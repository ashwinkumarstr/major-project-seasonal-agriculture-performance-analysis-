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47AA39-2B69-4ADF-8B4F-CEF7206751E0}" v="277" dt="2026-09-10T13:37:06.54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384" y="5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winkumar Sutar" userId="f146e1e092aeb2c1" providerId="LiveId" clId="{45DA4600-CA09-4D38-A798-3EA3ED4EE06A}"/>
    <pc:docChg chg="custSel modSld">
      <pc:chgData name="Ashwinkumar Sutar" userId="f146e1e092aeb2c1" providerId="LiveId" clId="{45DA4600-CA09-4D38-A798-3EA3ED4EE06A}" dt="2026-09-10T13:37:06.541" v="457" actId="255"/>
      <pc:docMkLst>
        <pc:docMk/>
      </pc:docMkLst>
      <pc:sldChg chg="modSp">
        <pc:chgData name="Ashwinkumar Sutar" userId="f146e1e092aeb2c1" providerId="LiveId" clId="{45DA4600-CA09-4D38-A798-3EA3ED4EE06A}" dt="2026-09-10T13:32:46.516" v="420" actId="2711"/>
        <pc:sldMkLst>
          <pc:docMk/>
          <pc:sldMk cId="1341901065" sldId="302"/>
        </pc:sldMkLst>
        <pc:spChg chg="mod">
          <ac:chgData name="Ashwinkumar Sutar" userId="f146e1e092aeb2c1" providerId="LiveId" clId="{45DA4600-CA09-4D38-A798-3EA3ED4EE06A}" dt="2026-09-10T13:32:46.516" v="420" actId="2711"/>
          <ac:spMkLst>
            <pc:docMk/>
            <pc:sldMk cId="1341901065" sldId="302"/>
            <ac:spMk id="7" creationId="{B21C28F5-3CA3-4B78-B5C9-550C00BB3174}"/>
          </ac:spMkLst>
        </pc:spChg>
        <pc:spChg chg="mod">
          <ac:chgData name="Ashwinkumar Sutar" userId="f146e1e092aeb2c1" providerId="LiveId" clId="{45DA4600-CA09-4D38-A798-3EA3ED4EE06A}" dt="2026-09-10T13:32:38.765" v="419" actId="2711"/>
          <ac:spMkLst>
            <pc:docMk/>
            <pc:sldMk cId="1341901065" sldId="302"/>
            <ac:spMk id="9" creationId="{FEF304F5-32C5-4869-B185-859B567855A8}"/>
          </ac:spMkLst>
        </pc:spChg>
      </pc:sldChg>
      <pc:sldChg chg="addSp delSp modSp mod">
        <pc:chgData name="Ashwinkumar Sutar" userId="f146e1e092aeb2c1" providerId="LiveId" clId="{45DA4600-CA09-4D38-A798-3EA3ED4EE06A}" dt="2026-09-10T13:37:06.541" v="457" actId="255"/>
        <pc:sldMkLst>
          <pc:docMk/>
          <pc:sldMk cId="3401748718" sldId="304"/>
        </pc:sldMkLst>
        <pc:spChg chg="add del mod">
          <ac:chgData name="Ashwinkumar Sutar" userId="f146e1e092aeb2c1" providerId="LiveId" clId="{45DA4600-CA09-4D38-A798-3EA3ED4EE06A}" dt="2026-09-10T13:36:56.068" v="455" actId="478"/>
          <ac:spMkLst>
            <pc:docMk/>
            <pc:sldMk cId="3401748718" sldId="304"/>
            <ac:spMk id="2" creationId="{EB22A911-7F84-B2FA-A365-82B1E6FEE030}"/>
          </ac:spMkLst>
        </pc:spChg>
        <pc:spChg chg="mod">
          <ac:chgData name="Ashwinkumar Sutar" userId="f146e1e092aeb2c1" providerId="LiveId" clId="{45DA4600-CA09-4D38-A798-3EA3ED4EE06A}" dt="2026-09-10T13:37:06.541" v="457" actId="255"/>
          <ac:spMkLst>
            <pc:docMk/>
            <pc:sldMk cId="3401748718" sldId="304"/>
            <ac:spMk id="3" creationId="{D88C20CF-C1EE-4092-B52D-FD4AB2AB2508}"/>
          </ac:spMkLst>
        </pc:spChg>
        <pc:spChg chg="del">
          <ac:chgData name="Ashwinkumar Sutar" userId="f146e1e092aeb2c1" providerId="LiveId" clId="{45DA4600-CA09-4D38-A798-3EA3ED4EE06A}" dt="2026-09-10T13:36:47.564" v="450" actId="478"/>
          <ac:spMkLst>
            <pc:docMk/>
            <pc:sldMk cId="3401748718" sldId="304"/>
            <ac:spMk id="12" creationId="{BC277FD7-925B-4C3D-A364-118403201507}"/>
          </ac:spMkLst>
        </pc:spChg>
      </pc:sldChg>
      <pc:sldChg chg="modSp mod">
        <pc:chgData name="Ashwinkumar Sutar" userId="f146e1e092aeb2c1" providerId="LiveId" clId="{45DA4600-CA09-4D38-A798-3EA3ED4EE06A}" dt="2026-09-10T13:32:09.305" v="414" actId="2711"/>
        <pc:sldMkLst>
          <pc:docMk/>
          <pc:sldMk cId="3696770303" sldId="315"/>
        </pc:sldMkLst>
        <pc:spChg chg="mod">
          <ac:chgData name="Ashwinkumar Sutar" userId="f146e1e092aeb2c1" providerId="LiveId" clId="{45DA4600-CA09-4D38-A798-3EA3ED4EE06A}" dt="2026-09-10T13:32:09.305" v="414" actId="2711"/>
          <ac:spMkLst>
            <pc:docMk/>
            <pc:sldMk cId="3696770303" sldId="315"/>
            <ac:spMk id="3" creationId="{EBF2FBC7-3552-4F01-BB27-8BEEE74F7277}"/>
          </ac:spMkLst>
        </pc:spChg>
        <pc:spChg chg="mod">
          <ac:chgData name="Ashwinkumar Sutar" userId="f146e1e092aeb2c1" providerId="LiveId" clId="{45DA4600-CA09-4D38-A798-3EA3ED4EE06A}" dt="2026-09-10T13:29:46.785" v="355" actId="14100"/>
          <ac:spMkLst>
            <pc:docMk/>
            <pc:sldMk cId="3696770303" sldId="315"/>
            <ac:spMk id="8" creationId="{C7A97713-008E-F90D-DDE0-1F55B52661B3}"/>
          </ac:spMkLst>
        </pc:spChg>
      </pc:sldChg>
      <pc:sldChg chg="modSp mod">
        <pc:chgData name="Ashwinkumar Sutar" userId="f146e1e092aeb2c1" providerId="LiveId" clId="{45DA4600-CA09-4D38-A798-3EA3ED4EE06A}" dt="2026-09-10T13:31:57.395" v="412" actId="27636"/>
        <pc:sldMkLst>
          <pc:docMk/>
          <pc:sldMk cId="3098548442" sldId="327"/>
        </pc:sldMkLst>
        <pc:spChg chg="mod">
          <ac:chgData name="Ashwinkumar Sutar" userId="f146e1e092aeb2c1" providerId="LiveId" clId="{45DA4600-CA09-4D38-A798-3EA3ED4EE06A}" dt="2026-09-10T13:28:53.503" v="349" actId="27636"/>
          <ac:spMkLst>
            <pc:docMk/>
            <pc:sldMk cId="3098548442" sldId="327"/>
            <ac:spMk id="2" creationId="{E46E4DD1-270B-4C80-AFF0-EB26F132AF36}"/>
          </ac:spMkLst>
        </pc:spChg>
        <pc:spChg chg="mod">
          <ac:chgData name="Ashwinkumar Sutar" userId="f146e1e092aeb2c1" providerId="LiveId" clId="{45DA4600-CA09-4D38-A798-3EA3ED4EE06A}" dt="2026-09-10T13:31:57.395" v="412" actId="27636"/>
          <ac:spMkLst>
            <pc:docMk/>
            <pc:sldMk cId="3098548442" sldId="327"/>
            <ac:spMk id="4" creationId="{777CC02B-F7C6-47A8-8C3E-C57C417D9EA3}"/>
          </ac:spMkLst>
        </pc:spChg>
        <pc:picChg chg="mod">
          <ac:chgData name="Ashwinkumar Sutar" userId="f146e1e092aeb2c1" providerId="LiveId" clId="{45DA4600-CA09-4D38-A798-3EA3ED4EE06A}" dt="2026-09-10T13:28:38.990" v="345" actId="1076"/>
          <ac:picMkLst>
            <pc:docMk/>
            <pc:sldMk cId="3098548442" sldId="327"/>
            <ac:picMk id="5" creationId="{C8FE02DE-D7B2-433D-BFE4-2F564022AD89}"/>
          </ac:picMkLst>
        </pc:picChg>
      </pc:sldChg>
      <pc:sldChg chg="modSp mod">
        <pc:chgData name="Ashwinkumar Sutar" userId="f146e1e092aeb2c1" providerId="LiveId" clId="{45DA4600-CA09-4D38-A798-3EA3ED4EE06A}" dt="2026-09-10T13:32:32.434" v="418" actId="1076"/>
        <pc:sldMkLst>
          <pc:docMk/>
          <pc:sldMk cId="48075006" sldId="329"/>
        </pc:sldMkLst>
        <pc:spChg chg="mod">
          <ac:chgData name="Ashwinkumar Sutar" userId="f146e1e092aeb2c1" providerId="LiveId" clId="{45DA4600-CA09-4D38-A798-3EA3ED4EE06A}" dt="2026-09-10T13:32:32.434" v="418" actId="1076"/>
          <ac:spMkLst>
            <pc:docMk/>
            <pc:sldMk cId="48075006" sldId="329"/>
            <ac:spMk id="2" creationId="{664E3B60-2780-459A-8583-F095D5E7463A}"/>
          </ac:spMkLst>
        </pc:spChg>
        <pc:spChg chg="mod">
          <ac:chgData name="Ashwinkumar Sutar" userId="f146e1e092aeb2c1" providerId="LiveId" clId="{45DA4600-CA09-4D38-A798-3EA3ED4EE06A}" dt="2026-09-10T13:32:23.409" v="415" actId="2711"/>
          <ac:spMkLst>
            <pc:docMk/>
            <pc:sldMk cId="48075006" sldId="329"/>
            <ac:spMk id="4" creationId="{1A4A072B-83C6-4607-AE6A-5AD61CC72C44}"/>
          </ac:spMkLst>
        </pc:spChg>
      </pc:sldChg>
      <pc:sldChg chg="modSp mod">
        <pc:chgData name="Ashwinkumar Sutar" userId="f146e1e092aeb2c1" providerId="LiveId" clId="{45DA4600-CA09-4D38-A798-3EA3ED4EE06A}" dt="2026-09-10T13:35:44.569" v="446" actId="20577"/>
        <pc:sldMkLst>
          <pc:docMk/>
          <pc:sldMk cId="1604013440" sldId="338"/>
        </pc:sldMkLst>
        <pc:spChg chg="mod">
          <ac:chgData name="Ashwinkumar Sutar" userId="f146e1e092aeb2c1" providerId="LiveId" clId="{45DA4600-CA09-4D38-A798-3EA3ED4EE06A}" dt="2026-09-10T13:35:44.569" v="446" actId="20577"/>
          <ac:spMkLst>
            <pc:docMk/>
            <pc:sldMk cId="1604013440" sldId="338"/>
            <ac:spMk id="2" creationId="{7201737A-B873-4D1D-8A41-5ABF5184BC8F}"/>
          </ac:spMkLst>
        </pc:spChg>
        <pc:spChg chg="mod">
          <ac:chgData name="Ashwinkumar Sutar" userId="f146e1e092aeb2c1" providerId="LiveId" clId="{45DA4600-CA09-4D38-A798-3EA3ED4EE06A}" dt="2026-09-10T13:28:00.666" v="335" actId="113"/>
          <ac:spMkLst>
            <pc:docMk/>
            <pc:sldMk cId="1604013440" sldId="338"/>
            <ac:spMk id="3" creationId="{17F04107-8754-E47D-3375-529E689711FA}"/>
          </ac:spMkLst>
        </pc:spChg>
        <pc:spChg chg="mod">
          <ac:chgData name="Ashwinkumar Sutar" userId="f146e1e092aeb2c1" providerId="LiveId" clId="{45DA4600-CA09-4D38-A798-3EA3ED4EE06A}" dt="2026-09-10T13:28:10.095" v="338" actId="20577"/>
          <ac:spMkLst>
            <pc:docMk/>
            <pc:sldMk cId="1604013440" sldId="338"/>
            <ac:spMk id="4" creationId="{92056599-CDAA-4367-BEF8-31D6E32518C8}"/>
          </ac:spMkLst>
        </pc:spChg>
      </pc:sldChg>
      <pc:sldChg chg="modSp mod">
        <pc:chgData name="Ashwinkumar Sutar" userId="f146e1e092aeb2c1" providerId="LiveId" clId="{45DA4600-CA09-4D38-A798-3EA3ED4EE06A}" dt="2026-09-10T13:33:12.181" v="422" actId="2711"/>
        <pc:sldMkLst>
          <pc:docMk/>
          <pc:sldMk cId="776828144" sldId="341"/>
        </pc:sldMkLst>
        <pc:spChg chg="mod">
          <ac:chgData name="Ashwinkumar Sutar" userId="f146e1e092aeb2c1" providerId="LiveId" clId="{45DA4600-CA09-4D38-A798-3EA3ED4EE06A}" dt="2026-09-10T13:31:28.483" v="407" actId="1076"/>
          <ac:spMkLst>
            <pc:docMk/>
            <pc:sldMk cId="776828144" sldId="341"/>
            <ac:spMk id="3" creationId="{AEC5F623-8529-7BCD-72A0-6CFE47875DB2}"/>
          </ac:spMkLst>
        </pc:spChg>
        <pc:spChg chg="mod">
          <ac:chgData name="Ashwinkumar Sutar" userId="f146e1e092aeb2c1" providerId="LiveId" clId="{45DA4600-CA09-4D38-A798-3EA3ED4EE06A}" dt="2026-09-10T13:33:12.181" v="422" actId="2711"/>
          <ac:spMkLst>
            <pc:docMk/>
            <pc:sldMk cId="776828144" sldId="341"/>
            <ac:spMk id="4" creationId="{9B097C2C-D75A-31D4-CD9F-366F39CDE51D}"/>
          </ac:spMkLst>
        </pc:spChg>
      </pc:sldChg>
      <pc:sldChg chg="addSp delSp modSp mod">
        <pc:chgData name="Ashwinkumar Sutar" userId="f146e1e092aeb2c1" providerId="LiveId" clId="{45DA4600-CA09-4D38-A798-3EA3ED4EE06A}" dt="2026-09-10T13:36:34.640" v="449" actId="1076"/>
        <pc:sldMkLst>
          <pc:docMk/>
          <pc:sldMk cId="3863610428" sldId="342"/>
        </pc:sldMkLst>
        <pc:spChg chg="add mod">
          <ac:chgData name="Ashwinkumar Sutar" userId="f146e1e092aeb2c1" providerId="LiveId" clId="{45DA4600-CA09-4D38-A798-3EA3ED4EE06A}" dt="2026-09-10T13:34:19.816" v="428" actId="14100"/>
          <ac:spMkLst>
            <pc:docMk/>
            <pc:sldMk cId="3863610428" sldId="342"/>
            <ac:spMk id="2" creationId="{80CCD54B-55BC-5CAC-1C56-741528302C1E}"/>
          </ac:spMkLst>
        </pc:spChg>
        <pc:spChg chg="del mod">
          <ac:chgData name="Ashwinkumar Sutar" userId="f146e1e092aeb2c1" providerId="LiveId" clId="{45DA4600-CA09-4D38-A798-3EA3ED4EE06A}" dt="2026-09-10T13:01:59.557" v="2"/>
          <ac:spMkLst>
            <pc:docMk/>
            <pc:sldMk cId="3863610428" sldId="342"/>
            <ac:spMk id="3" creationId="{5F0B37E4-66B1-8633-7266-68B321742757}"/>
          </ac:spMkLst>
        </pc:spChg>
        <pc:spChg chg="mod">
          <ac:chgData name="Ashwinkumar Sutar" userId="f146e1e092aeb2c1" providerId="LiveId" clId="{45DA4600-CA09-4D38-A798-3EA3ED4EE06A}" dt="2026-09-10T13:34:27.761" v="430" actId="1076"/>
          <ac:spMkLst>
            <pc:docMk/>
            <pc:sldMk cId="3863610428" sldId="342"/>
            <ac:spMk id="4" creationId="{901A2257-2F98-CB88-038E-C0F1D0A1A363}"/>
          </ac:spMkLst>
        </pc:spChg>
        <pc:spChg chg="add mod">
          <ac:chgData name="Ashwinkumar Sutar" userId="f146e1e092aeb2c1" providerId="LiveId" clId="{45DA4600-CA09-4D38-A798-3EA3ED4EE06A}" dt="2026-09-10T13:36:34.640" v="449" actId="1076"/>
          <ac:spMkLst>
            <pc:docMk/>
            <pc:sldMk cId="3863610428" sldId="342"/>
            <ac:spMk id="6" creationId="{94166910-3592-BAE5-B19C-F6A432E0FB0B}"/>
          </ac:spMkLst>
        </pc:spChg>
      </pc:sldChg>
      <pc:sldChg chg="addSp modSp mod">
        <pc:chgData name="Ashwinkumar Sutar" userId="f146e1e092aeb2c1" providerId="LiveId" clId="{45DA4600-CA09-4D38-A798-3EA3ED4EE06A}" dt="2026-09-10T13:35:25.849" v="440" actId="1076"/>
        <pc:sldMkLst>
          <pc:docMk/>
          <pc:sldMk cId="3962802212" sldId="343"/>
        </pc:sldMkLst>
        <pc:spChg chg="mod">
          <ac:chgData name="Ashwinkumar Sutar" userId="f146e1e092aeb2c1" providerId="LiveId" clId="{45DA4600-CA09-4D38-A798-3EA3ED4EE06A}" dt="2026-09-10T13:35:20.944" v="439" actId="14100"/>
          <ac:spMkLst>
            <pc:docMk/>
            <pc:sldMk cId="3962802212" sldId="343"/>
            <ac:spMk id="4" creationId="{42B692F6-18B4-BC16-EA0C-48FFBD5621DF}"/>
          </ac:spMkLst>
        </pc:spChg>
        <pc:picChg chg="add mod">
          <ac:chgData name="Ashwinkumar Sutar" userId="f146e1e092aeb2c1" providerId="LiveId" clId="{45DA4600-CA09-4D38-A798-3EA3ED4EE06A}" dt="2026-09-10T13:35:25.849" v="440" actId="1076"/>
          <ac:picMkLst>
            <pc:docMk/>
            <pc:sldMk cId="3962802212" sldId="343"/>
            <ac:picMk id="3" creationId="{F5C2E805-ED61-7D5A-C15A-F0F97D534953}"/>
          </ac:picMkLst>
        </pc:picChg>
      </pc:sldChg>
      <pc:sldChg chg="modSp mod">
        <pc:chgData name="Ashwinkumar Sutar" userId="f146e1e092aeb2c1" providerId="LiveId" clId="{45DA4600-CA09-4D38-A798-3EA3ED4EE06A}" dt="2026-09-10T13:36:22.684" v="448" actId="1076"/>
        <pc:sldMkLst>
          <pc:docMk/>
          <pc:sldMk cId="1421522261" sldId="346"/>
        </pc:sldMkLst>
        <pc:picChg chg="mod">
          <ac:chgData name="Ashwinkumar Sutar" userId="f146e1e092aeb2c1" providerId="LiveId" clId="{45DA4600-CA09-4D38-A798-3EA3ED4EE06A}" dt="2026-09-10T13:36:20.410" v="447" actId="1076"/>
          <ac:picMkLst>
            <pc:docMk/>
            <pc:sldMk cId="1421522261" sldId="346"/>
            <ac:picMk id="2" creationId="{4488E992-FF4B-A0B4-4978-F418180EC1EC}"/>
          </ac:picMkLst>
        </pc:picChg>
        <pc:picChg chg="mod">
          <ac:chgData name="Ashwinkumar Sutar" userId="f146e1e092aeb2c1" providerId="LiveId" clId="{45DA4600-CA09-4D38-A798-3EA3ED4EE06A}" dt="2026-09-10T13:36:22.684" v="448" actId="1076"/>
          <ac:picMkLst>
            <pc:docMk/>
            <pc:sldMk cId="1421522261" sldId="346"/>
            <ac:picMk id="3" creationId="{9356EE4E-2292-BDFB-3F84-EC65C9A9959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shwinkumarStr/Major-Project-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07339" y="3445017"/>
            <a:ext cx="8603692" cy="861497"/>
          </a:xfrm>
        </p:spPr>
        <p:txBody>
          <a:bodyPr vert="horz" lIns="91440" tIns="45720" rIns="91440" bIns="45720" rtlCol="0" anchor="t">
            <a:normAutofit fontScale="85000" lnSpcReduction="10000"/>
          </a:bodyPr>
          <a:lstStyle/>
          <a:p>
            <a:r>
              <a:rPr lang="en-US" dirty="0">
                <a:solidFill>
                  <a:schemeClr val="tx1"/>
                </a:solidFill>
                <a:latin typeface="Times New Roman" panose="02020603050405020304" pitchFamily="18" charset="0"/>
                <a:cs typeface="Times New Roman" panose="02020603050405020304" pitchFamily="18" charset="0"/>
              </a:rPr>
              <a:t>Student Name </a:t>
            </a:r>
            <a:r>
              <a:rPr lang="en-US" b="0" dirty="0">
                <a:solidFill>
                  <a:schemeClr val="tx1"/>
                </a:solidFill>
                <a:latin typeface="Times New Roman" panose="02020603050405020304" pitchFamily="18" charset="0"/>
                <a:cs typeface="Times New Roman" panose="02020603050405020304" pitchFamily="18" charset="0"/>
              </a:rPr>
              <a:t>: Ashwinkumar </a:t>
            </a:r>
            <a:r>
              <a:rPr lang="en-US" b="0" dirty="0" err="1">
                <a:solidFill>
                  <a:schemeClr val="tx1"/>
                </a:solidFill>
                <a:latin typeface="Times New Roman" panose="02020603050405020304" pitchFamily="18" charset="0"/>
                <a:cs typeface="Times New Roman" panose="02020603050405020304" pitchFamily="18" charset="0"/>
              </a:rPr>
              <a:t>Jotiram</a:t>
            </a:r>
            <a:r>
              <a:rPr lang="en-US" b="0" dirty="0">
                <a:solidFill>
                  <a:schemeClr val="tx1"/>
                </a:solidFill>
                <a:latin typeface="Times New Roman" panose="02020603050405020304" pitchFamily="18" charset="0"/>
                <a:cs typeface="Times New Roman" panose="02020603050405020304" pitchFamily="18" charset="0"/>
              </a:rPr>
              <a:t> Sutar</a:t>
            </a:r>
            <a:endParaRPr lang="en-IN" b="0"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College Name : </a:t>
            </a:r>
            <a:r>
              <a:rPr lang="en-US" b="0" dirty="0">
                <a:solidFill>
                  <a:schemeClr val="tx1"/>
                </a:solidFill>
                <a:latin typeface="Times New Roman" panose="02020603050405020304" pitchFamily="18" charset="0"/>
                <a:cs typeface="Times New Roman" panose="02020603050405020304" pitchFamily="18" charset="0"/>
              </a:rPr>
              <a:t>Dr. D. Y. Patil College of Engineering &amp; Technology, </a:t>
            </a:r>
            <a:r>
              <a:rPr lang="en-US" b="0" dirty="0" err="1">
                <a:solidFill>
                  <a:schemeClr val="tx1"/>
                </a:solidFill>
                <a:latin typeface="Times New Roman" panose="02020603050405020304" pitchFamily="18" charset="0"/>
                <a:cs typeface="Times New Roman" panose="02020603050405020304" pitchFamily="18" charset="0"/>
              </a:rPr>
              <a:t>Kasaba</a:t>
            </a:r>
            <a:r>
              <a:rPr lang="en-US" b="0" dirty="0">
                <a:solidFill>
                  <a:schemeClr val="tx1"/>
                </a:solidFill>
                <a:latin typeface="Times New Roman" panose="02020603050405020304" pitchFamily="18" charset="0"/>
                <a:cs typeface="Times New Roman" panose="02020603050405020304" pitchFamily="18" charset="0"/>
              </a:rPr>
              <a:t> </a:t>
            </a:r>
            <a:r>
              <a:rPr lang="en-US" b="0" dirty="0" err="1">
                <a:solidFill>
                  <a:schemeClr val="tx1"/>
                </a:solidFill>
                <a:latin typeface="Times New Roman" panose="02020603050405020304" pitchFamily="18" charset="0"/>
                <a:cs typeface="Times New Roman" panose="02020603050405020304" pitchFamily="18" charset="0"/>
              </a:rPr>
              <a:t>Bawada</a:t>
            </a:r>
            <a:r>
              <a:rPr lang="en-US" b="0" dirty="0">
                <a:solidFill>
                  <a:schemeClr val="tx1"/>
                </a:solidFill>
                <a:latin typeface="Times New Roman" panose="02020603050405020304" pitchFamily="18" charset="0"/>
                <a:cs typeface="Times New Roman" panose="02020603050405020304" pitchFamily="18" charset="0"/>
              </a:rPr>
              <a:t>, Kolhapur</a:t>
            </a:r>
            <a:endParaRPr lang="en-IN"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19977" y="2794001"/>
            <a:ext cx="10125534" cy="743448"/>
          </a:xfrm>
        </p:spPr>
        <p:txBody>
          <a:bodyPr>
            <a:normAutofit/>
          </a:bodyPr>
          <a:lstStyle/>
          <a:p>
            <a:r>
              <a:rPr lang="en-GB" sz="3000" b="1" dirty="0">
                <a:latin typeface="Times New Roman" panose="02020603050405020304" pitchFamily="18" charset="0"/>
                <a:cs typeface="Times New Roman" panose="02020603050405020304" pitchFamily="18" charset="0"/>
              </a:rPr>
              <a:t>Project Title : Seasonal Agriculture Performance Analysis</a:t>
            </a:r>
            <a:endParaRPr lang="en-IN" sz="30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18987" y="4306514"/>
            <a:ext cx="561005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a:t>
            </a:r>
            <a:r>
              <a:rPr lang="en-US" dirty="0">
                <a:latin typeface="Times New Roman" panose="02020603050405020304" pitchFamily="18" charset="0"/>
                <a:cs typeface="Times New Roman" panose="02020603050405020304" pitchFamily="18" charset="0"/>
              </a:rPr>
              <a:t>STU669bcc3ac1d321721486394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09468" y="2102230"/>
            <a:ext cx="8317166" cy="3607987"/>
          </a:xfrm>
        </p:spPr>
        <p:txBody>
          <a:bodyPr vert="horz" lIns="91440" tIns="45720" rIns="91440" bIns="45720" rtlCol="0" anchor="t">
            <a:normAutofit/>
          </a:bodyPr>
          <a:lstStyle/>
          <a:p>
            <a:pPr>
              <a:lnSpc>
                <a:spcPct val="100000"/>
              </a:lnSpc>
              <a:defRPr sz="1800" b="0">
                <a:latin typeface="Aptos"/>
              </a:defRPr>
            </a:pPr>
            <a:r>
              <a:rPr lang="en-US" sz="2400" dirty="0">
                <a:latin typeface="Times New Roman" panose="02020603050405020304" pitchFamily="18" charset="0"/>
                <a:cs typeface="Times New Roman" panose="02020603050405020304" pitchFamily="18" charset="0"/>
              </a:rPr>
              <a:t>Agricultural performance changes with seasonal environmental conditions, farming practices, resource availability and market conditions. This project analyzes the supplied agricultural dataset to identify seasonal differences in yield, production, resource usage and economic performance. The goal is to uncover meaningful patterns, relationships and variations that can support evidence-based seasonal agricultural planning.</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314117" y="875254"/>
            <a:ext cx="6995604" cy="790111"/>
          </a:xfrm>
        </p:spPr>
        <p:txBody>
          <a:bodyPr>
            <a:normAutofit/>
          </a:bodyPr>
          <a:lstStyle/>
          <a:p>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380082" y="1665365"/>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1046065"/>
            <a:ext cx="6276109" cy="830997"/>
          </a:xfrm>
        </p:spPr>
        <p:txBody>
          <a:bodyPr>
            <a:noAutofit/>
          </a:bodyPr>
          <a:lstStyle/>
          <a:p>
            <a:r>
              <a:rPr lang="en-GB" sz="4000" dirty="0">
                <a:latin typeface="Times New Roman" panose="02020603050405020304" pitchFamily="18" charset="0"/>
                <a:cs typeface="Times New Roman" panose="02020603050405020304" pitchFamily="18" charset="0"/>
              </a:rPr>
              <a:t>Project Description</a:t>
            </a:r>
            <a:br>
              <a:rPr lang="en-GB" sz="4000" dirty="0">
                <a:latin typeface="Times New Roman" panose="02020603050405020304" pitchFamily="18" charset="0"/>
                <a:cs typeface="Times New Roman" panose="02020603050405020304" pitchFamily="18" charset="0"/>
              </a:rPr>
            </a:br>
            <a:br>
              <a:rPr lang="en-GB"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C7A97713-008E-F90D-DDE0-1F55B52661B3}"/>
              </a:ext>
            </a:extLst>
          </p:cNvPr>
          <p:cNvSpPr txBox="1"/>
          <p:nvPr/>
        </p:nvSpPr>
        <p:spPr>
          <a:xfrm>
            <a:off x="467359" y="2323290"/>
            <a:ext cx="9818185" cy="2677656"/>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This project analyses agricultural performance across Kharif, Rabi, and Zaid seasons using environmental, farming, resource, production, and economic data. Through data cleaning, statistical analysis, visualization, correlation analysis, and seasonal comparisons, the project identifies important patterns and relationships affecting crop yield, water efficiency, revenue, cost, and profit. The findings are used to provide data-driven recommendations for better agricultural planning and resource management.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34984" y="2078724"/>
            <a:ext cx="7904481" cy="3990023"/>
          </a:xfrm>
        </p:spPr>
        <p:txBody>
          <a:bodyPr>
            <a:normAutofit fontScale="55000" lnSpcReduction="20000"/>
          </a:bodyPr>
          <a:lstStyle/>
          <a:p>
            <a:pPr>
              <a:lnSpc>
                <a:spcPct val="150000"/>
              </a:lnSpc>
            </a:pPr>
            <a:r>
              <a:rPr lang="en-US" sz="3600" dirty="0">
                <a:latin typeface="Times New Roman" panose="02020603050405020304" pitchFamily="18" charset="0"/>
                <a:cs typeface="Times New Roman" panose="02020603050405020304" pitchFamily="18" charset="0"/>
              </a:rPr>
              <a:t>• Farmers and farm managers – compare seasonal yield, irrigation and profitability.</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Agricultural planners – identify seasonal resource and production patterns.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Government/</a:t>
            </a:r>
            <a:r>
              <a:rPr lang="en-US" sz="3600" dirty="0" err="1">
                <a:latin typeface="Times New Roman" panose="02020603050405020304" pitchFamily="18" charset="0"/>
                <a:cs typeface="Times New Roman" panose="02020603050405020304" pitchFamily="18" charset="0"/>
              </a:rPr>
              <a:t>agri</a:t>
            </a:r>
            <a:r>
              <a:rPr lang="en-US" sz="3600" dirty="0">
                <a:latin typeface="Times New Roman" panose="02020603050405020304" pitchFamily="18" charset="0"/>
                <a:cs typeface="Times New Roman" panose="02020603050405020304" pitchFamily="18" charset="0"/>
              </a:rPr>
              <a:t>-support organizations – use evidence for planning and interventions.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Researchers and analysts – investigate crop, region and environmental relationships.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Students – demonstrate practical data analytics on a real-world dataset.</a:t>
            </a:r>
            <a:endParaRPr lang="en-US" sz="6000" dirty="0">
              <a:latin typeface="Times New Roman" panose="02020603050405020304" pitchFamily="18" charset="0"/>
              <a:cs typeface="Times New Roman" panose="02020603050405020304" pitchFamily="18" charset="0"/>
            </a:endParaRPr>
          </a:p>
          <a:p>
            <a:pPr algn="just">
              <a:lnSpc>
                <a:spcPct val="150000"/>
              </a:lnSpc>
            </a:pPr>
            <a:endParaRPr lang="en-IN" sz="36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67858" y="1463105"/>
            <a:ext cx="9027702" cy="5243448"/>
          </a:xfrm>
        </p:spPr>
        <p:txBody>
          <a:bodyPr>
            <a:normAutofit fontScale="92500" lnSpcReduction="20000"/>
          </a:bodyPr>
          <a:lstStyle/>
          <a:p>
            <a:pPr lvl="1">
              <a:lnSpc>
                <a:spcPct val="150000"/>
              </a:lnSpc>
            </a:pPr>
            <a:r>
              <a:rPr lang="en-IN" dirty="0">
                <a:latin typeface="Times New Roman" panose="02020603050405020304" pitchFamily="18" charset="0"/>
                <a:cs typeface="Times New Roman" panose="02020603050405020304" pitchFamily="18" charset="0"/>
              </a:rPr>
              <a:t>Python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Pandas – data loading, cleaning and aggregation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NumPy – numerical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Matplotlib – data visualization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Seaborn – exploratory visualization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Jupyter Notebook – complete analysis and documentation</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Methods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Descriptive statistics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IQR outlier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Univariate, bivariate and multivariate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Correlation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Seasonal and group comparisons</a:t>
            </a:r>
          </a:p>
          <a:p>
            <a:pPr lvl="1">
              <a:lnSpc>
                <a:spcPct val="150000"/>
              </a:lnSpc>
            </a:pPr>
            <a:endParaRPr lang="en-IN"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8716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BA66476-4FC6-A317-E2D7-98E4A7DBBFF5}"/>
              </a:ext>
            </a:extLst>
          </p:cNvPr>
          <p:cNvPicPr>
            <a:picLocks noChangeAspect="1"/>
          </p:cNvPicPr>
          <p:nvPr/>
        </p:nvPicPr>
        <p:blipFill>
          <a:blip r:embed="rId3"/>
          <a:stretch>
            <a:fillRect/>
          </a:stretch>
        </p:blipFill>
        <p:spPr>
          <a:xfrm>
            <a:off x="472440" y="2960370"/>
            <a:ext cx="5303520" cy="3314700"/>
          </a:xfrm>
          <a:prstGeom prst="rect">
            <a:avLst/>
          </a:prstGeom>
        </p:spPr>
      </p:pic>
      <p:pic>
        <p:nvPicPr>
          <p:cNvPr id="3" name="Picture 2">
            <a:extLst>
              <a:ext uri="{FF2B5EF4-FFF2-40B4-BE49-F238E27FC236}">
                <a16:creationId xmlns:a16="http://schemas.microsoft.com/office/drawing/2014/main" id="{42FBBB11-18DF-22AD-3286-7F75F3B6040F}"/>
              </a:ext>
            </a:extLst>
          </p:cNvPr>
          <p:cNvPicPr>
            <a:picLocks noChangeAspect="1"/>
          </p:cNvPicPr>
          <p:nvPr/>
        </p:nvPicPr>
        <p:blipFill>
          <a:blip r:embed="rId4"/>
          <a:stretch>
            <a:fillRect/>
          </a:stretch>
        </p:blipFill>
        <p:spPr>
          <a:xfrm>
            <a:off x="5775960" y="2960370"/>
            <a:ext cx="5303520" cy="3314700"/>
          </a:xfrm>
          <a:prstGeom prst="rect">
            <a:avLst/>
          </a:prstGeom>
        </p:spPr>
      </p:pic>
      <p:sp>
        <p:nvSpPr>
          <p:cNvPr id="10" name="TextBox 9">
            <a:extLst>
              <a:ext uri="{FF2B5EF4-FFF2-40B4-BE49-F238E27FC236}">
                <a16:creationId xmlns:a16="http://schemas.microsoft.com/office/drawing/2014/main" id="{12DCA743-605C-A477-214B-12315DAD59E2}"/>
              </a:ext>
            </a:extLst>
          </p:cNvPr>
          <p:cNvSpPr txBox="1"/>
          <p:nvPr/>
        </p:nvSpPr>
        <p:spPr>
          <a:xfrm>
            <a:off x="6709410" y="2281632"/>
            <a:ext cx="6103620" cy="338554"/>
          </a:xfrm>
          <a:prstGeom prst="rect">
            <a:avLst/>
          </a:prstGeom>
          <a:noFill/>
        </p:spPr>
        <p:txBody>
          <a:bodyPr wrap="square">
            <a:spAutoFit/>
          </a:bodyPr>
          <a:lstStyle/>
          <a:p>
            <a:pPr>
              <a:defRPr sz="1600" b="1">
                <a:latin typeface="Aptos"/>
              </a:defRPr>
            </a:pPr>
            <a:r>
              <a:rPr lang="en-IN" sz="1600" dirty="0"/>
              <a:t>Average Profit by Season</a:t>
            </a:r>
            <a:endParaRPr lang="en-IN" sz="2000" dirty="0"/>
          </a:p>
        </p:txBody>
      </p:sp>
      <p:sp>
        <p:nvSpPr>
          <p:cNvPr id="12" name="TextBox 11">
            <a:extLst>
              <a:ext uri="{FF2B5EF4-FFF2-40B4-BE49-F238E27FC236}">
                <a16:creationId xmlns:a16="http://schemas.microsoft.com/office/drawing/2014/main" id="{A6EC1CF5-654F-5159-F009-AF6ECAC0F0FF}"/>
              </a:ext>
            </a:extLst>
          </p:cNvPr>
          <p:cNvSpPr txBox="1"/>
          <p:nvPr/>
        </p:nvSpPr>
        <p:spPr>
          <a:xfrm>
            <a:off x="948690" y="2410537"/>
            <a:ext cx="6408420" cy="338554"/>
          </a:xfrm>
          <a:prstGeom prst="rect">
            <a:avLst/>
          </a:prstGeom>
          <a:noFill/>
        </p:spPr>
        <p:txBody>
          <a:bodyPr wrap="square">
            <a:spAutoFit/>
          </a:bodyPr>
          <a:lstStyle/>
          <a:p>
            <a:pPr>
              <a:defRPr sz="1600" b="1">
                <a:latin typeface="Aptos"/>
              </a:defRPr>
            </a:pPr>
            <a:r>
              <a:rPr lang="en-IN" sz="1600" dirty="0"/>
              <a:t>Average Yield by Season</a:t>
            </a:r>
            <a:endParaRPr lang="en-IN"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E168B284-B3EA-EA77-37CB-7192476B173F}"/>
              </a:ext>
            </a:extLst>
          </p:cNvPr>
          <p:cNvPicPr>
            <a:picLocks noChangeAspect="1"/>
          </p:cNvPicPr>
          <p:nvPr/>
        </p:nvPicPr>
        <p:blipFill>
          <a:blip r:embed="rId3"/>
          <a:stretch>
            <a:fillRect/>
          </a:stretch>
        </p:blipFill>
        <p:spPr>
          <a:xfrm>
            <a:off x="320982" y="3172711"/>
            <a:ext cx="5303520" cy="3314700"/>
          </a:xfrm>
          <a:prstGeom prst="rect">
            <a:avLst/>
          </a:prstGeom>
        </p:spPr>
      </p:pic>
      <p:sp>
        <p:nvSpPr>
          <p:cNvPr id="6" name="Text Placeholder 5">
            <a:extLst>
              <a:ext uri="{FF2B5EF4-FFF2-40B4-BE49-F238E27FC236}">
                <a16:creationId xmlns:a16="http://schemas.microsoft.com/office/drawing/2014/main" id="{4590E529-AF96-4099-9603-999B9FF12DD0}"/>
              </a:ext>
            </a:extLst>
          </p:cNvPr>
          <p:cNvSpPr>
            <a:spLocks noGrp="1"/>
          </p:cNvSpPr>
          <p:nvPr>
            <p:ph type="body" sz="quarter" idx="12"/>
          </p:nvPr>
        </p:nvSpPr>
        <p:spPr/>
        <p:txBody>
          <a:bodyPr/>
          <a:lstStyle/>
          <a:p>
            <a:r>
              <a:rPr lang="en-IN" dirty="0"/>
              <a:t>Rainfall vs Yield</a:t>
            </a:r>
            <a:endParaRPr lang="en-IN" sz="2800" dirty="0"/>
          </a:p>
          <a:p>
            <a:endParaRPr lang="en-IN" dirty="0"/>
          </a:p>
        </p:txBody>
      </p:sp>
      <p:sp>
        <p:nvSpPr>
          <p:cNvPr id="11" name="TextBox 10">
            <a:extLst>
              <a:ext uri="{FF2B5EF4-FFF2-40B4-BE49-F238E27FC236}">
                <a16:creationId xmlns:a16="http://schemas.microsoft.com/office/drawing/2014/main" id="{AC63E768-E584-4979-16DC-2AE5A774BE1A}"/>
              </a:ext>
            </a:extLst>
          </p:cNvPr>
          <p:cNvSpPr txBox="1"/>
          <p:nvPr/>
        </p:nvSpPr>
        <p:spPr>
          <a:xfrm>
            <a:off x="4204654" y="2270152"/>
            <a:ext cx="6103620" cy="400110"/>
          </a:xfrm>
          <a:prstGeom prst="rect">
            <a:avLst/>
          </a:prstGeom>
          <a:noFill/>
        </p:spPr>
        <p:txBody>
          <a:bodyPr wrap="square">
            <a:spAutoFit/>
          </a:bodyPr>
          <a:lstStyle/>
          <a:p>
            <a:pPr>
              <a:defRPr sz="1600" b="1">
                <a:latin typeface="Aptos"/>
              </a:defRPr>
            </a:pPr>
            <a:r>
              <a:rPr lang="en-IN" sz="2000" dirty="0"/>
              <a:t>`</a:t>
            </a:r>
          </a:p>
        </p:txBody>
      </p:sp>
      <p:sp>
        <p:nvSpPr>
          <p:cNvPr id="12" name="Text Placeholder 5">
            <a:extLst>
              <a:ext uri="{FF2B5EF4-FFF2-40B4-BE49-F238E27FC236}">
                <a16:creationId xmlns:a16="http://schemas.microsoft.com/office/drawing/2014/main" id="{CEE00FED-6E77-5EBB-7298-6592C1F954A1}"/>
              </a:ext>
            </a:extLst>
          </p:cNvPr>
          <p:cNvSpPr txBox="1">
            <a:spLocks/>
          </p:cNvSpPr>
          <p:nvPr/>
        </p:nvSpPr>
        <p:spPr>
          <a:xfrm>
            <a:off x="6567500" y="2150772"/>
            <a:ext cx="4275138" cy="35607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600" b="1">
                <a:latin typeface="Aptos"/>
              </a:defRPr>
            </a:pPr>
            <a:r>
              <a:rPr lang="en-IN" sz="2200" dirty="0"/>
              <a:t>Correlation Matrix</a:t>
            </a:r>
          </a:p>
        </p:txBody>
      </p:sp>
      <p:pic>
        <p:nvPicPr>
          <p:cNvPr id="13" name="Picture 12">
            <a:extLst>
              <a:ext uri="{FF2B5EF4-FFF2-40B4-BE49-F238E27FC236}">
                <a16:creationId xmlns:a16="http://schemas.microsoft.com/office/drawing/2014/main" id="{5DD9BE03-81D8-C892-B600-008B7DCE6B55}"/>
              </a:ext>
            </a:extLst>
          </p:cNvPr>
          <p:cNvPicPr>
            <a:picLocks noChangeAspect="1"/>
          </p:cNvPicPr>
          <p:nvPr/>
        </p:nvPicPr>
        <p:blipFill>
          <a:blip r:embed="rId4"/>
          <a:stretch>
            <a:fillRect/>
          </a:stretch>
        </p:blipFill>
        <p:spPr>
          <a:xfrm>
            <a:off x="5963920" y="2575792"/>
            <a:ext cx="5394960" cy="414996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854382" y="1941448"/>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sz="1600" b="1">
                <a:latin typeface="Aptos"/>
              </a:defRPr>
            </a:pPr>
            <a:r>
              <a:rPr lang="en-IN" sz="2000" dirty="0"/>
              <a:t>Crop yield across seasons</a:t>
            </a:r>
            <a:endParaRPr lang="en-IN" sz="28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7CA0887-A3AC-E2EA-9B72-B4632C0F9B15}"/>
              </a:ext>
            </a:extLst>
          </p:cNvPr>
          <p:cNvPicPr>
            <a:picLocks noChangeAspect="1"/>
          </p:cNvPicPr>
          <p:nvPr/>
        </p:nvPicPr>
        <p:blipFill>
          <a:blip r:embed="rId3"/>
          <a:stretch>
            <a:fillRect/>
          </a:stretch>
        </p:blipFill>
        <p:spPr>
          <a:xfrm>
            <a:off x="531074" y="2710393"/>
            <a:ext cx="5486400" cy="2992582"/>
          </a:xfrm>
          <a:prstGeom prst="rect">
            <a:avLst/>
          </a:prstGeom>
        </p:spPr>
      </p:pic>
      <p:pic>
        <p:nvPicPr>
          <p:cNvPr id="3" name="Picture 2">
            <a:extLst>
              <a:ext uri="{FF2B5EF4-FFF2-40B4-BE49-F238E27FC236}">
                <a16:creationId xmlns:a16="http://schemas.microsoft.com/office/drawing/2014/main" id="{EC2E73AB-B19C-4846-5494-E5A0F1612335}"/>
              </a:ext>
            </a:extLst>
          </p:cNvPr>
          <p:cNvPicPr>
            <a:picLocks noChangeAspect="1"/>
          </p:cNvPicPr>
          <p:nvPr/>
        </p:nvPicPr>
        <p:blipFill>
          <a:blip r:embed="rId4"/>
          <a:stretch>
            <a:fillRect/>
          </a:stretch>
        </p:blipFill>
        <p:spPr>
          <a:xfrm>
            <a:off x="6357406" y="2710393"/>
            <a:ext cx="5303520" cy="2946400"/>
          </a:xfrm>
          <a:prstGeom prst="rect">
            <a:avLst/>
          </a:prstGeom>
        </p:spPr>
      </p:pic>
      <p:sp>
        <p:nvSpPr>
          <p:cNvPr id="9" name="TextBox 8">
            <a:extLst>
              <a:ext uri="{FF2B5EF4-FFF2-40B4-BE49-F238E27FC236}">
                <a16:creationId xmlns:a16="http://schemas.microsoft.com/office/drawing/2014/main" id="{EBBA22FF-E65B-A831-7B18-D678D52497EC}"/>
              </a:ext>
            </a:extLst>
          </p:cNvPr>
          <p:cNvSpPr txBox="1"/>
          <p:nvPr/>
        </p:nvSpPr>
        <p:spPr>
          <a:xfrm>
            <a:off x="7689255" y="1907090"/>
            <a:ext cx="6103620" cy="400110"/>
          </a:xfrm>
          <a:prstGeom prst="rect">
            <a:avLst/>
          </a:prstGeom>
          <a:noFill/>
        </p:spPr>
        <p:txBody>
          <a:bodyPr wrap="square">
            <a:spAutoFit/>
          </a:bodyPr>
          <a:lstStyle/>
          <a:p>
            <a:pPr>
              <a:defRPr sz="1600" b="1">
                <a:latin typeface="Aptos"/>
              </a:defRPr>
            </a:pPr>
            <a:r>
              <a:rPr lang="en-IN" sz="2000" dirty="0"/>
              <a:t>Season × Irrigation yield</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69625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8A75AB0-D7D6-E1E0-E4AA-CDECE5F3AB03}"/>
              </a:ext>
            </a:extLst>
          </p:cNvPr>
          <p:cNvPicPr>
            <a:picLocks noChangeAspect="1"/>
          </p:cNvPicPr>
          <p:nvPr/>
        </p:nvPicPr>
        <p:blipFill>
          <a:blip r:embed="rId3"/>
          <a:stretch>
            <a:fillRect/>
          </a:stretch>
        </p:blipFill>
        <p:spPr>
          <a:xfrm>
            <a:off x="675957" y="2549334"/>
            <a:ext cx="5303520" cy="3314700"/>
          </a:xfrm>
          <a:prstGeom prst="rect">
            <a:avLst/>
          </a:prstGeom>
        </p:spPr>
      </p:pic>
      <p:pic>
        <p:nvPicPr>
          <p:cNvPr id="9" name="Picture 8">
            <a:extLst>
              <a:ext uri="{FF2B5EF4-FFF2-40B4-BE49-F238E27FC236}">
                <a16:creationId xmlns:a16="http://schemas.microsoft.com/office/drawing/2014/main" id="{7A2F1929-21F3-2225-1433-0A2AB10DE87D}"/>
              </a:ext>
            </a:extLst>
          </p:cNvPr>
          <p:cNvPicPr>
            <a:picLocks noChangeAspect="1"/>
          </p:cNvPicPr>
          <p:nvPr/>
        </p:nvPicPr>
        <p:blipFill>
          <a:blip r:embed="rId4"/>
          <a:stretch>
            <a:fillRect/>
          </a:stretch>
        </p:blipFill>
        <p:spPr>
          <a:xfrm>
            <a:off x="6017474" y="2320734"/>
            <a:ext cx="5029200" cy="3771900"/>
          </a:xfrm>
          <a:prstGeom prst="rect">
            <a:avLst/>
          </a:prstGeom>
        </p:spPr>
      </p:pic>
      <p:sp>
        <p:nvSpPr>
          <p:cNvPr id="12" name="TextBox 11">
            <a:extLst>
              <a:ext uri="{FF2B5EF4-FFF2-40B4-BE49-F238E27FC236}">
                <a16:creationId xmlns:a16="http://schemas.microsoft.com/office/drawing/2014/main" id="{133B6AFE-09F5-76AF-7222-5D82E583F6DF}"/>
              </a:ext>
            </a:extLst>
          </p:cNvPr>
          <p:cNvSpPr txBox="1"/>
          <p:nvPr/>
        </p:nvSpPr>
        <p:spPr>
          <a:xfrm>
            <a:off x="1145326" y="1984754"/>
            <a:ext cx="6103620" cy="338554"/>
          </a:xfrm>
          <a:prstGeom prst="rect">
            <a:avLst/>
          </a:prstGeom>
          <a:noFill/>
        </p:spPr>
        <p:txBody>
          <a:bodyPr wrap="square">
            <a:spAutoFit/>
          </a:bodyPr>
          <a:lstStyle/>
          <a:p>
            <a:pPr>
              <a:defRPr sz="1600" b="1">
                <a:latin typeface="Aptos"/>
              </a:defRPr>
            </a:pPr>
            <a:r>
              <a:rPr lang="en-IN" sz="1600" dirty="0"/>
              <a:t>Yield by Irrigation Method</a:t>
            </a:r>
            <a:endParaRPr lang="en-IN" sz="2000" dirty="0"/>
          </a:p>
        </p:txBody>
      </p:sp>
      <p:sp>
        <p:nvSpPr>
          <p:cNvPr id="14" name="TextBox 13">
            <a:extLst>
              <a:ext uri="{FF2B5EF4-FFF2-40B4-BE49-F238E27FC236}">
                <a16:creationId xmlns:a16="http://schemas.microsoft.com/office/drawing/2014/main" id="{F207756D-D535-D4FC-6E19-1B6537C8FBA0}"/>
              </a:ext>
            </a:extLst>
          </p:cNvPr>
          <p:cNvSpPr txBox="1"/>
          <p:nvPr/>
        </p:nvSpPr>
        <p:spPr>
          <a:xfrm>
            <a:off x="6922770" y="1956689"/>
            <a:ext cx="6103620" cy="338554"/>
          </a:xfrm>
          <a:prstGeom prst="rect">
            <a:avLst/>
          </a:prstGeom>
          <a:noFill/>
        </p:spPr>
        <p:txBody>
          <a:bodyPr wrap="square">
            <a:spAutoFit/>
          </a:bodyPr>
          <a:lstStyle/>
          <a:p>
            <a:pPr>
              <a:defRPr sz="1600" b="1">
                <a:latin typeface="Aptos"/>
              </a:defRPr>
            </a:pPr>
            <a:r>
              <a:rPr lang="en-IN" sz="1600" dirty="0"/>
              <a:t>Crop × Season Heatmap</a:t>
            </a:r>
            <a:endParaRPr lang="en-IN" sz="2000"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4488E992-FF4B-A0B4-4978-F418180EC1EC}"/>
              </a:ext>
            </a:extLst>
          </p:cNvPr>
          <p:cNvPicPr>
            <a:picLocks noChangeAspect="1"/>
          </p:cNvPicPr>
          <p:nvPr/>
        </p:nvPicPr>
        <p:blipFill>
          <a:blip r:embed="rId3"/>
          <a:stretch>
            <a:fillRect/>
          </a:stretch>
        </p:blipFill>
        <p:spPr>
          <a:xfrm>
            <a:off x="455319" y="2627799"/>
            <a:ext cx="5486440" cy="3419500"/>
          </a:xfrm>
          <a:prstGeom prst="rect">
            <a:avLst/>
          </a:prstGeom>
        </p:spPr>
      </p:pic>
      <p:pic>
        <p:nvPicPr>
          <p:cNvPr id="3" name="Picture 2">
            <a:extLst>
              <a:ext uri="{FF2B5EF4-FFF2-40B4-BE49-F238E27FC236}">
                <a16:creationId xmlns:a16="http://schemas.microsoft.com/office/drawing/2014/main" id="{9356EE4E-2292-BDFB-3F84-EC65C9A9959F}"/>
              </a:ext>
            </a:extLst>
          </p:cNvPr>
          <p:cNvPicPr>
            <a:picLocks noChangeAspect="1"/>
          </p:cNvPicPr>
          <p:nvPr/>
        </p:nvPicPr>
        <p:blipFill>
          <a:blip r:embed="rId4"/>
          <a:stretch>
            <a:fillRect/>
          </a:stretch>
        </p:blipFill>
        <p:spPr>
          <a:xfrm>
            <a:off x="6250243" y="2623036"/>
            <a:ext cx="5505490" cy="3429025"/>
          </a:xfrm>
          <a:prstGeom prst="rect">
            <a:avLst/>
          </a:prstGeom>
        </p:spPr>
      </p:pic>
      <p:sp>
        <p:nvSpPr>
          <p:cNvPr id="11" name="TextBox 10">
            <a:extLst>
              <a:ext uri="{FF2B5EF4-FFF2-40B4-BE49-F238E27FC236}">
                <a16:creationId xmlns:a16="http://schemas.microsoft.com/office/drawing/2014/main" id="{0531939A-E038-E8EB-92E4-C95FCF97D743}"/>
              </a:ext>
            </a:extLst>
          </p:cNvPr>
          <p:cNvSpPr txBox="1"/>
          <p:nvPr/>
        </p:nvSpPr>
        <p:spPr>
          <a:xfrm>
            <a:off x="792480" y="1965960"/>
            <a:ext cx="3032760" cy="400110"/>
          </a:xfrm>
          <a:prstGeom prst="rect">
            <a:avLst/>
          </a:prstGeom>
          <a:noFill/>
        </p:spPr>
        <p:txBody>
          <a:bodyPr wrap="square" rtlCol="0">
            <a:spAutoFit/>
          </a:bodyPr>
          <a:lstStyle/>
          <a:p>
            <a:r>
              <a:rPr lang="en-IN" sz="2000" b="1" dirty="0">
                <a:latin typeface="Aptos" panose="020B0004020202020204" pitchFamily="34" charset="0"/>
              </a:rPr>
              <a:t>Distribution of crop field</a:t>
            </a:r>
          </a:p>
        </p:txBody>
      </p:sp>
      <p:sp>
        <p:nvSpPr>
          <p:cNvPr id="13" name="TextBox 12">
            <a:extLst>
              <a:ext uri="{FF2B5EF4-FFF2-40B4-BE49-F238E27FC236}">
                <a16:creationId xmlns:a16="http://schemas.microsoft.com/office/drawing/2014/main" id="{34490F2A-8DF1-E36B-F9E0-E35E6FC564C8}"/>
              </a:ext>
            </a:extLst>
          </p:cNvPr>
          <p:cNvSpPr txBox="1"/>
          <p:nvPr/>
        </p:nvSpPr>
        <p:spPr>
          <a:xfrm>
            <a:off x="6693329" y="2017649"/>
            <a:ext cx="3032760" cy="400110"/>
          </a:xfrm>
          <a:prstGeom prst="rect">
            <a:avLst/>
          </a:prstGeom>
          <a:noFill/>
        </p:spPr>
        <p:txBody>
          <a:bodyPr wrap="square" rtlCol="0">
            <a:spAutoFit/>
          </a:bodyPr>
          <a:lstStyle/>
          <a:p>
            <a:r>
              <a:rPr lang="en-IN" sz="2000" b="1" dirty="0">
                <a:latin typeface="Aptos" panose="020B0004020202020204" pitchFamily="34" charset="0"/>
              </a:rPr>
              <a:t>Distribution of profit</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550451" y="1192911"/>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a:t>
            </a:r>
            <a:r>
              <a:rPr lang="en-IN" sz="4000" dirty="0"/>
              <a:t> </a:t>
            </a:r>
            <a:r>
              <a:rPr lang="en-IN" sz="4000" dirty="0">
                <a:latin typeface="Times New Roman" panose="02020603050405020304" pitchFamily="18" charset="0"/>
                <a:cs typeface="Times New Roman" panose="02020603050405020304" pitchFamily="18" charset="0"/>
              </a:rPr>
              <a:t>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AEC5F623-8529-7BCD-72A0-6CFE47875DB2}"/>
              </a:ext>
            </a:extLst>
          </p:cNvPr>
          <p:cNvSpPr txBox="1"/>
          <p:nvPr/>
        </p:nvSpPr>
        <p:spPr>
          <a:xfrm>
            <a:off x="445308" y="2213676"/>
            <a:ext cx="9517467" cy="1938992"/>
          </a:xfrm>
          <a:prstGeom prst="rect">
            <a:avLst/>
          </a:prstGeom>
          <a:noFill/>
        </p:spPr>
        <p:txBody>
          <a:bodyPr wrap="square">
            <a:spAutoFit/>
          </a:bodyPr>
          <a:lstStyle/>
          <a:p>
            <a:pPr>
              <a:defRPr sz="1700" b="0">
                <a:latin typeface="Aptos"/>
              </a:defRPr>
            </a:pPr>
            <a:r>
              <a:rPr lang="en-US" sz="2400" dirty="0">
                <a:latin typeface="Times New Roman" panose="02020603050405020304" pitchFamily="18" charset="0"/>
                <a:cs typeface="Times New Roman" panose="02020603050405020304" pitchFamily="18" charset="0"/>
              </a:rPr>
              <a:t>• We can add a multi-year historical data to study long-term seasonal trends.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Include weather forecasts and market-price time series.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Build an interactive Power BI/Tableau dashboard.</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Develop predictive models for yield and profitability.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We can also add soil, pest, satellite and remote-sensing indicators.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496663" y="1362750"/>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0CCD54B-55BC-5CAC-1C56-741528302C1E}"/>
              </a:ext>
            </a:extLst>
          </p:cNvPr>
          <p:cNvSpPr txBox="1"/>
          <p:nvPr/>
        </p:nvSpPr>
        <p:spPr>
          <a:xfrm>
            <a:off x="320983" y="2446046"/>
            <a:ext cx="8954500" cy="646331"/>
          </a:xfrm>
          <a:prstGeom prst="rect">
            <a:avLst/>
          </a:prstGeom>
          <a:noFill/>
        </p:spPr>
        <p:txBody>
          <a:bodyPr wrap="square" rtlCol="0">
            <a:spAutoFit/>
          </a:bodyPr>
          <a:lstStyle/>
          <a:p>
            <a:r>
              <a:rPr lang="en-IN" dirty="0"/>
              <a:t>https://github.com/AshwinkumarStr/Major-Project-Seasonal-Agriculture-Performance-Analysis-.git</a:t>
            </a:r>
          </a:p>
        </p:txBody>
      </p:sp>
      <p:sp>
        <p:nvSpPr>
          <p:cNvPr id="6" name="TextBox 5">
            <a:extLst>
              <a:ext uri="{FF2B5EF4-FFF2-40B4-BE49-F238E27FC236}">
                <a16:creationId xmlns:a16="http://schemas.microsoft.com/office/drawing/2014/main" id="{94166910-3592-BAE5-B19C-F6A432E0FB0B}"/>
              </a:ext>
            </a:extLst>
          </p:cNvPr>
          <p:cNvSpPr txBox="1"/>
          <p:nvPr/>
        </p:nvSpPr>
        <p:spPr>
          <a:xfrm>
            <a:off x="296641" y="3160010"/>
            <a:ext cx="2901756" cy="369332"/>
          </a:xfrm>
          <a:prstGeom prst="rect">
            <a:avLst/>
          </a:prstGeom>
          <a:noFill/>
        </p:spPr>
        <p:txBody>
          <a:bodyPr wrap="none" rtlCol="0">
            <a:spAutoFit/>
          </a:bodyPr>
          <a:lstStyle/>
          <a:p>
            <a:r>
              <a:rPr lang="en-IN" dirty="0">
                <a:hlinkClick r:id="rId3"/>
              </a:rPr>
              <a:t>Click here to Open GitHub</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6292608" cy="884658"/>
          </a:xfrm>
        </p:spPr>
        <p:txBody>
          <a:bodyPr>
            <a:normAutofit fontScale="90000"/>
          </a:bodyPr>
          <a:lstStyle/>
          <a:p>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5C2E805-ED61-7D5A-C15A-F0F97D534953}"/>
              </a:ext>
            </a:extLst>
          </p:cNvPr>
          <p:cNvPicPr>
            <a:picLocks noChangeAspect="1"/>
          </p:cNvPicPr>
          <p:nvPr/>
        </p:nvPicPr>
        <p:blipFill>
          <a:blip r:embed="rId3"/>
          <a:stretch>
            <a:fillRect/>
          </a:stretch>
        </p:blipFill>
        <p:spPr>
          <a:xfrm>
            <a:off x="846456" y="1478033"/>
            <a:ext cx="6998476" cy="494603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2493056"/>
            <a:ext cx="11340000" cy="700114"/>
          </a:xfrm>
          <a:prstGeom prst="rect">
            <a:avLst/>
          </a:prstGeom>
        </p:spPr>
        <p:txBody>
          <a:bodyPr anchor="ctr">
            <a:noAutofit/>
          </a:bodyPr>
          <a:lstStyle/>
          <a:p>
            <a:pPr algn="ctr"/>
            <a:r>
              <a:rPr lang="en-US" sz="96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1414</TotalTime>
  <Words>461</Words>
  <Application>Microsoft Office PowerPoint</Application>
  <PresentationFormat>Widescreen</PresentationFormat>
  <Paragraphs>38</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Calibri</vt:lpstr>
      <vt:lpstr>Times New Roman</vt:lpstr>
      <vt:lpstr>Trebuchet MS</vt:lpstr>
      <vt:lpstr>Wingdings</vt:lpstr>
      <vt:lpstr>Wingdings 3</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Ashwinkumar Sutar</cp:lastModifiedBy>
  <cp:revision>99</cp:revision>
  <dcterms:created xsi:type="dcterms:W3CDTF">2021-07-11T13:13:15Z</dcterms:created>
  <dcterms:modified xsi:type="dcterms:W3CDTF">2026-09-10T13:37:10Z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